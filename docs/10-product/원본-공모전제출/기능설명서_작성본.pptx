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70" r:id="rId4"/>
    <p:sldId id="267" r:id="rId5"/>
    <p:sldId id="274" r:id="rId19"/>
    <p:sldId id="275" r:id="rId20"/>
    <p:sldId id="276" r:id="rId21"/>
    <p:sldId id="260" r:id="rId6"/>
    <p:sldId id="271" r:id="rId16"/>
    <p:sldId id="272" r:id="rId17"/>
    <p:sldId id="273" r:id="rId18"/>
    <p:sldId id="268" r:id="rId7"/>
    <p:sldId id="264" r:id="rId8"/>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9DBF"/>
    <a:srgbClr val="372472"/>
    <a:srgbClr val="BBBCDE"/>
    <a:srgbClr val="280A41"/>
    <a:srgbClr val="230A3A"/>
    <a:srgbClr val="401AC1"/>
    <a:srgbClr val="200D45"/>
    <a:srgbClr val="FFED97"/>
    <a:srgbClr val="0000FF"/>
    <a:srgbClr val="FF6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14" Type="http://schemas.openxmlformats.org/officeDocument/2006/relationships/theme" Target="theme/theme1.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2026-08-11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46070" cy="68017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해시태그 연계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46070" cy="6820852"/>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관련 이미지">
    <p:spTree>
      <p:nvGrpSpPr>
        <p:cNvPr id="1" name=""/>
        <p:cNvGrpSpPr/>
        <p:nvPr/>
      </p:nvGrpSpPr>
      <p:grpSpPr>
        <a:xfrm>
          <a:off x="0" y="0"/>
          <a:ext cx="0" cy="0"/>
          <a:chOff x="0" y="0"/>
          <a:chExt cx="0" cy="0"/>
        </a:xfrm>
      </p:grpSpPr>
      <p:pic>
        <p:nvPicPr>
          <p:cNvPr id="10" name="그림 9"/>
          <p:cNvPicPr>
            <a:picLocks noChangeAspect="1"/>
          </p:cNvPicPr>
          <p:nvPr userDrawn="1"/>
        </p:nvPicPr>
        <p:blipFill>
          <a:blip r:embed="rId2"/>
          <a:stretch>
            <a:fillRect/>
          </a:stretch>
        </p:blipFill>
        <p:spPr>
          <a:xfrm>
            <a:off x="0" y="0"/>
            <a:ext cx="12146070" cy="6849431"/>
          </a:xfrm>
          <a:prstGeom prst="rect">
            <a:avLst/>
          </a:prstGeom>
        </p:spPr>
      </p:pic>
    </p:spTree>
    <p:extLst>
      <p:ext uri="{BB962C8B-B14F-4D97-AF65-F5344CB8AC3E}">
        <p14:creationId xmlns:p14="http://schemas.microsoft.com/office/powerpoint/2010/main" val="93538241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0796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stretch>
            <a:fillRect/>
          </a:stretch>
        </p:blipFill>
        <p:spPr>
          <a:xfrm>
            <a:off x="0" y="0"/>
            <a:ext cx="12127017" cy="6820852"/>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36544" cy="6839905"/>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2026-08-11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04915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2026-08-11</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1" r:id="rId3"/>
    <p:sldLayoutId id="2147483666" r:id="rId4"/>
    <p:sldLayoutId id="2147483662" r:id="rId5"/>
    <p:sldLayoutId id="2147483663" r:id="rId6"/>
    <p:sldLayoutId id="2147483664" r:id="rId7"/>
    <p:sldLayoutId id="2147483668" r:id="rId8"/>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401AC1"/>
            </a:gs>
            <a:gs pos="100000">
              <a:srgbClr val="280A41"/>
            </a:gs>
            <a:gs pos="75000">
              <a:srgbClr val="230A3A"/>
            </a:gs>
          </a:gsLst>
          <a:lin ang="2700000" scaled="1"/>
          <a:tileRect/>
        </a:gradFill>
        <a:effectLst/>
      </p:bgPr>
    </p:bg>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1189898654"/>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a:solidFill>
                            <a:schemeClr val="bg1"/>
                          </a:solidFill>
                        </a:rPr>
                        <a:t>팀 명</a:t>
                      </a: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pPr latinLnBrk="1"/>
                      <a:endParaRPr lang="ko-KR" altLang="en-US" sz="2400" b="0">
                        <a:solidFill>
                          <a:schemeClr val="tx1"/>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BBBCDE"/>
                    </a:solidFill>
                  </a:tcPr>
                </a:tc>
                <a:extLst>
                  <a:ext uri="{0D108BD9-81ED-4DB2-BD59-A6C34878D82A}">
                    <a16:rowId xmlns:a16="http://schemas.microsoft.com/office/drawing/2014/main" val="3342559057"/>
                  </a:ext>
                </a:extLst>
              </a:tr>
              <a:tr h="564418">
                <a:tc>
                  <a:txBody>
                    <a:bodyPr/>
                    <a:lstStyle/>
                    <a:p>
                      <a:pPr algn="ctr" latinLnBrk="1"/>
                      <a:r>
                        <a:rPr lang="ko-KR" altLang="en-US" sz="2400" b="1">
                          <a:solidFill>
                            <a:schemeClr val="bg1"/>
                          </a:solidFill>
                        </a:rPr>
                        <a:t>서비스</a:t>
                      </a:r>
                      <a:r>
                        <a:rPr lang="ko-KR" altLang="en-US" sz="2400" b="1" baseline="0">
                          <a:solidFill>
                            <a:schemeClr val="bg1"/>
                          </a:solidFill>
                        </a:rPr>
                        <a:t> </a:t>
                      </a:r>
                      <a:r>
                        <a:rPr lang="ko-KR" altLang="en-US" sz="2400" b="1">
                          <a:solidFill>
                            <a:schemeClr val="bg1"/>
                          </a:solidFill>
                        </a:rPr>
                        <a:t>명</a:t>
                      </a: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372472"/>
                    </a:solidFill>
                  </a:tcPr>
                </a:tc>
                <a:tc>
                  <a:txBody>
                    <a:bodyPr/>
                    <a:lstStyle/>
                    <a:p>
                      <a:r>
                        <a:rPr lang="ko-KR" altLang="en-US" sz="2000" b="0">
                          <a:solidFill>
                            <a:schemeClr val="tx1"/>
                          </a:solidFill>
                        </a:rPr>
                        <a:t>Visit Holy Korea — 길 위에서 나를 만나는 성지순례</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BBBCDE"/>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4119378647"/>
              </p:ext>
            </p:extLst>
          </p:nvPr>
        </p:nvGraphicFramePr>
        <p:xfrm>
          <a:off x="271088" y="1065402"/>
          <a:ext cx="11649825" cy="5654871"/>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893693">
                <a:tc>
                  <a:txBody>
                    <a:bodyPr/>
                    <a:lstStyle/>
                    <a:p>
                      <a:pPr algn="ctr" latinLnBrk="1"/>
                      <a:r>
                        <a:rPr lang="ko-KR" altLang="en-US" b="1">
                          <a:solidFill>
                            <a:schemeClr val="bg1"/>
                          </a:solidFill>
                        </a:rPr>
                        <a:t>서비스명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Visit Holy Korea — 길 위에서 나를 만나는 성지순례</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625585">
                <a:tc>
                  <a:txBody>
                    <a:bodyPr/>
                    <a:lstStyle/>
                    <a:p>
                      <a:pPr algn="ctr" latinLnBrk="1"/>
                      <a:r>
                        <a:rPr lang="ko-KR" altLang="en-US" b="1">
                          <a:solidFill>
                            <a:schemeClr val="bg1"/>
                          </a:solidFill>
                        </a:rPr>
                        <a:t>서비스 유형</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웹 서비스 (PWA) — Android/iOS 앱(Capacitor) 빌드 준비 중</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893693">
                <a:tc>
                  <a:txBody>
                    <a:bodyPr/>
                    <a:lstStyle/>
                    <a:p>
                      <a:pPr algn="ctr" latinLnBrk="1"/>
                      <a:r>
                        <a:rPr lang="ko-KR" altLang="en-US" b="1">
                          <a:solidFill>
                            <a:schemeClr val="bg1"/>
                          </a:solidFill>
                        </a:rPr>
                        <a:t>서비스 </a:t>
                      </a:r>
                      <a:r>
                        <a:rPr lang="ko-KR" altLang="en-US" b="1" smtClean="0">
                          <a:solidFill>
                            <a:schemeClr val="bg1"/>
                          </a:solidFill>
                        </a:rPr>
                        <a:t>타깃</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여유로운 여행을 원하는 자유여행객, 심리적 재충전이 필요한 사람, 종교 여부와 무관하게 걷기·사색 여행에 관심 있는 사람, 성지순례객 및 외국인 관광객</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1161801">
                <a:tc>
                  <a:txBody>
                    <a:bodyPr/>
                    <a:lstStyle/>
                    <a:p>
                      <a:pPr algn="ctr" latinLnBrk="1"/>
                      <a:r>
                        <a:rPr lang="ko-KR" altLang="en-US" b="1">
                          <a:solidFill>
                            <a:schemeClr val="bg1"/>
                          </a:solidFill>
                        </a:rPr>
                        <a:t>서비스 개요</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붐비는 유명 관광지 대신, 감정에 맞는 한적한 성지와 도보권 관광지를 실시간 TourAPI 데이터로 엮어 안내하는 오버투어리즘 분산 순례 코스 추천 서비스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9164922"/>
                  </a:ext>
                </a:extLst>
              </a:tr>
              <a:tr h="1161801">
                <a:tc>
                  <a:txBody>
                    <a:bodyPr/>
                    <a:lstStyle/>
                    <a:p>
                      <a:pPr algn="ctr" latinLnBrk="1"/>
                      <a:r>
                        <a:rPr lang="ko-KR" altLang="en-US" b="1" smtClean="0">
                          <a:solidFill>
                            <a:schemeClr val="bg1"/>
                          </a:solidFill>
                        </a:rPr>
                        <a:t>선택 </a:t>
                      </a:r>
                      <a:r>
                        <a:rPr lang="ko-KR" altLang="en-US" b="1" err="1" smtClean="0">
                          <a:solidFill>
                            <a:schemeClr val="bg1"/>
                          </a:solidFill>
                        </a:rPr>
                        <a:t>지정과제</a:t>
                      </a:r>
                      <a:endParaRPr lang="ko-KR" altLang="en-US"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과제번호 2번 (유명 관광지 쏠림/오버투어리즘 문제 해결)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r h="80855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err="1" smtClean="0">
                          <a:solidFill>
                            <a:schemeClr val="bg1"/>
                          </a:solidFill>
                        </a:rPr>
                        <a:t>지정과제</a:t>
                      </a:r>
                      <a:endParaRPr lang="en-US" altLang="ko-KR" sz="1800" b="1" baseline="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800" b="1" baseline="0" smtClean="0">
                          <a:solidFill>
                            <a:schemeClr val="bg1"/>
                          </a:solidFill>
                        </a:rPr>
                        <a:t>선택</a:t>
                      </a:r>
                      <a:r>
                        <a:rPr lang="en-US" altLang="ko-KR" sz="1800" b="1" baseline="0" smtClean="0">
                          <a:solidFill>
                            <a:schemeClr val="bg1"/>
                          </a:solidFill>
                        </a:rPr>
                        <a:t> </a:t>
                      </a:r>
                      <a:r>
                        <a:rPr lang="ko-KR" altLang="en-US" sz="1800" b="1" baseline="0" smtClean="0">
                          <a:solidFill>
                            <a:schemeClr val="bg1"/>
                          </a:solidFill>
                        </a:rPr>
                        <a:t>이유</a:t>
                      </a:r>
                      <a:endParaRPr lang="ko-KR" altLang="en-US" sz="1800"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전국 성지 208곳은 특정 대도시에 쏠리지 않고 전국 각지에 분포하며 대부분 한적해 오버투어리즘의 정반대 특성을 가진다. 이 자원을 활용하면 혼잡 관광지 이용객을 실질적으로 분산시킬 수 있다고 판단해 지정과제 2번을 선택했다.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8133503"/>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3976248600"/>
              </p:ext>
            </p:extLst>
          </p:nvPr>
        </p:nvGraphicFramePr>
        <p:xfrm>
          <a:off x="271088" y="1065401"/>
          <a:ext cx="11649825" cy="5570292"/>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78514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err="1" smtClean="0">
                          <a:solidFill>
                            <a:schemeClr val="bg1"/>
                          </a:solidFill>
                        </a:rPr>
                        <a:t>지정과제</a:t>
                      </a:r>
                      <a:r>
                        <a:rPr lang="ko-KR" altLang="en-US" b="1" baseline="0" dirty="0" smtClean="0">
                          <a:solidFill>
                            <a:schemeClr val="bg1"/>
                          </a:solidFill>
                        </a:rPr>
                        <a:t> 기반</a:t>
                      </a:r>
                      <a:endParaRPr lang="en-US" altLang="ko-KR" b="1" baseline="0" dirty="0" smtClean="0">
                        <a:solidFill>
                          <a:schemeClr val="bg1"/>
                        </a:solidFil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baseline="0" dirty="0" smtClean="0">
                          <a:solidFill>
                            <a:schemeClr val="bg1"/>
                          </a:solidFill>
                        </a:rPr>
                        <a:t>서비스 기획 방향</a:t>
                      </a:r>
                      <a:endParaRPr lang="en-US" altLang="ko-KR" b="1" baseline="0"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기존 오버투어리즘 대응은 대개 '명소 A 대신 B'식 1:1 대체 추천에 그친다. 본 서비스는 한 걸음 더 나아가 혼잡 명소를 경유하되 그 옆의 한적한 성지를 엮은 완결된 코스를 제안한다. 또한 TourAPI 축제·명소 데이터를 매일 합산해 성지별 붐빔 지수(0~100)를 실시간으로 계산하고, 지수가 낮은 성지를 '오늘의 쉼표'로 그날그날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785146">
                <a:tc>
                  <a:txBody>
                    <a:bodyPr/>
                    <a:lstStyle/>
                    <a:p>
                      <a:pPr algn="ctr" latinLnBrk="1"/>
                      <a:r>
                        <a:rPr lang="ko-KR" altLang="en-US" b="1" dirty="0" smtClean="0">
                          <a:solidFill>
                            <a:schemeClr val="bg1"/>
                          </a:solidFill>
                        </a:rPr>
                        <a:t>해시태그</a:t>
                      </a:r>
                      <a:r>
                        <a:rPr lang="en-US" altLang="ko-KR" b="1" baseline="0" dirty="0" smtClean="0">
                          <a:solidFill>
                            <a:schemeClr val="bg1"/>
                          </a:solidFill>
                        </a:rPr>
                        <a:t> </a:t>
                      </a:r>
                      <a:r>
                        <a:rPr lang="ko-KR" altLang="en-US" b="1" dirty="0" smtClean="0">
                          <a:solidFill>
                            <a:schemeClr val="bg1"/>
                          </a:solidFill>
                        </a:rPr>
                        <a:t>목록</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#오늘의쉼표, #쉼표순례길, #마음나침반, #순례가이드미카엘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73284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#오늘의쉼표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붐빔 지수 기반 실시간 한적 성지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TourAPI 전국 축제·명소 데이터를 매일 합산해 성지별 붐빔 지수(0~100)를 계산하고, 지수가 낮은 성지를 홈 화면 '오늘의 쉼표' 섹션에서 실시간으로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홈 화면 진입 → '오늘의 쉼표' 섹션 노출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TourAPI 전국 축제·명소 데이터 실시간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성지별 붐빔 지수 계산</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지수 낮은(한적한) 성지를 카드로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#오늘의쉼표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붐빔 지수 기반 실시간 한적 성지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TourAPI 전국 축제·명소 데이터를 매일 합산해 성지별 붐빔 지수(0~100)를 계산하고, 지수가 낮은 성지를 홈 화면 '오늘의 쉼표' 섹션에서 실시간으로 추천한다.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3096162552"/>
              </p:ext>
            </p:extLst>
          </p:nvPr>
        </p:nvGraphicFramePr>
        <p:xfrm>
          <a:off x="271088" y="1065401"/>
          <a:ext cx="11649825" cy="5570292"/>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785146">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대표 이미지</a:t>
                      </a:r>
                      <a:endParaRPr lang="en-US" altLang="ko-KR" b="1" smtClean="0">
                        <a:solidFill>
                          <a:schemeClr val="bg1"/>
                        </a:solidFill>
                      </a:endParaRPr>
                    </a:p>
                    <a:p>
                      <a:pPr algn="ctr" latinLnBrk="1"/>
                      <a:r>
                        <a:rPr lang="en-US" altLang="ko-KR" b="1" smtClean="0">
                          <a:solidFill>
                            <a:schemeClr val="bg1"/>
                          </a:solidFill>
                        </a:rPr>
                        <a:t>(</a:t>
                      </a:r>
                      <a:r>
                        <a:rPr lang="ko-KR" altLang="en-US" b="1" err="1" smtClean="0">
                          <a:solidFill>
                            <a:schemeClr val="bg1"/>
                          </a:solidFill>
                        </a:rPr>
                        <a:t>썸네일</a:t>
                      </a:r>
                      <a:r>
                        <a:rPr lang="en-US" altLang="ko-KR" b="1" smtClean="0">
                          <a:solidFill>
                            <a:schemeClr val="bg1"/>
                          </a:solidFill>
                        </a:rPr>
                        <a:t>)</a:t>
                      </a:r>
                      <a:endParaRPr lang="ko-KR" altLang="en-US"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 (웹/앱 로고 또는 대표 화면 1개)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785146">
                <a:tc>
                  <a:txBody>
                    <a:bodyPr/>
                    <a:lstStyle/>
                    <a:p>
                      <a:pPr algn="ctr" latinLnBrk="1"/>
                      <a:r>
                        <a:rPr lang="ko-KR" altLang="en-US" b="1" smtClean="0">
                          <a:solidFill>
                            <a:schemeClr val="bg1"/>
                          </a:solidFill>
                        </a:rPr>
                        <a:t>서비스</a:t>
                      </a:r>
                      <a:endParaRPr lang="en-US" altLang="ko-KR" b="1" smtClean="0">
                        <a:solidFill>
                          <a:schemeClr val="bg1"/>
                        </a:solidFill>
                      </a:endParaRPr>
                    </a:p>
                    <a:p>
                      <a:pPr algn="ctr" latinLnBrk="1"/>
                      <a:r>
                        <a:rPr lang="ko-KR" altLang="en-US" b="1" smtClean="0">
                          <a:solidFill>
                            <a:schemeClr val="bg1"/>
                          </a:solidFill>
                        </a:rPr>
                        <a:t>상세 이미지</a:t>
                      </a:r>
                      <a:endParaRPr lang="en-US" altLang="ko-KR" b="1"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 (홈/탐색/성지상세/오늘의쉼표 등 주요 화면 3~5개)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99883579"/>
                  </a:ext>
                </a:extLst>
              </a:tr>
            </a:tbl>
          </a:graphicData>
        </a:graphic>
      </p:graphicFrame>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372472"/>
          </a:solidFill>
        </p:spPr>
        <p:txBody>
          <a:bodyPr wrap="square" rtlCol="0">
            <a:spAutoFit/>
          </a:bodyPr>
          <a:lstStyle/>
          <a:p>
            <a:pPr algn="ctr"/>
            <a:r>
              <a:rPr lang="ko-KR" altLang="en-US" sz="1400" b="1">
                <a:solidFill>
                  <a:schemeClr val="bg1"/>
                </a:solidFill>
              </a:rPr>
              <a:t>서비스 개발에 활용한 한국관광공사 </a:t>
            </a:r>
            <a:r>
              <a:rPr lang="en-US" altLang="ko-KR" sz="1400" b="1">
                <a:solidFill>
                  <a:schemeClr val="bg1"/>
                </a:solidFill>
              </a:rPr>
              <a:t>OpenAPI </a:t>
            </a:r>
            <a:r>
              <a:rPr lang="ko-KR" altLang="en-US" sz="1400" b="1">
                <a:solidFill>
                  <a:schemeClr val="bg1"/>
                </a:solidFill>
              </a:rPr>
              <a:t>리스트</a:t>
            </a:r>
          </a:p>
        </p:txBody>
      </p:sp>
      <p:graphicFrame>
        <p:nvGraphicFramePr>
          <p:cNvPr id="7" name="표 6"/>
          <p:cNvGraphicFramePr>
            <a:graphicFrameLocks noGrp="1"/>
          </p:cNvGraphicFramePr>
          <p:nvPr>
            <p:extLst>
              <p:ext uri="{D42A27DB-BD31-4B8C-83A1-F6EECF244321}">
                <p14:modId xmlns:p14="http://schemas.microsoft.com/office/powerpoint/2010/main" val="3601316057"/>
              </p:ext>
            </p:extLst>
          </p:nvPr>
        </p:nvGraphicFramePr>
        <p:xfrm>
          <a:off x="174566" y="1646098"/>
          <a:ext cx="11746191" cy="3789680"/>
        </p:xfrm>
        <a:graphic>
          <a:graphicData uri="http://schemas.openxmlformats.org/drawingml/2006/table">
            <a:tbl>
              <a:tblPr firstRow="1" bandRow="1">
                <a:tableStyleId>{5C22544A-7EE6-4342-B048-85BDC9FD1C3A}</a:tableStyleId>
              </a:tblPr>
              <a:tblGrid>
                <a:gridCol w="829450">
                  <a:extLst>
                    <a:ext uri="{9D8B030D-6E8A-4147-A177-3AD203B41FA5}">
                      <a16:colId xmlns:a16="http://schemas.microsoft.com/office/drawing/2014/main" val="842166946"/>
                    </a:ext>
                  </a:extLst>
                </a:gridCol>
                <a:gridCol w="1834747">
                  <a:extLst>
                    <a:ext uri="{9D8B030D-6E8A-4147-A177-3AD203B41FA5}">
                      <a16:colId xmlns:a16="http://schemas.microsoft.com/office/drawing/2014/main" val="3903607114"/>
                    </a:ext>
                  </a:extLst>
                </a:gridCol>
                <a:gridCol w="9081994">
                  <a:extLst>
                    <a:ext uri="{9D8B030D-6E8A-4147-A177-3AD203B41FA5}">
                      <a16:colId xmlns:a16="http://schemas.microsoft.com/office/drawing/2014/main" val="2519424337"/>
                    </a:ext>
                  </a:extLst>
                </a:gridCol>
              </a:tblGrid>
              <a:tr h="370840">
                <a:tc rowSpan="2">
                  <a:txBody>
                    <a:bodyPr/>
                    <a:lstStyle/>
                    <a:p>
                      <a:pPr algn="ctr" latinLnBrk="1"/>
                      <a:r>
                        <a:rPr lang="en-US" altLang="ko-KR" sz="3200" b="1">
                          <a:solidFill>
                            <a:schemeClr val="tx1"/>
                          </a:solidFill>
                        </a:rPr>
                        <a:t>1</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위치기반 관광정보 조회서비스 (locationBasedList2)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좌표 기준 반경 내 관광지 실시간 검색 — 성지 상세페이지의 '주변 정보', 감정 기반 코스 매칭의 관광지 페어링에 활용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a:solidFill>
                            <a:schemeClr val="tx1"/>
                          </a:solidFill>
                        </a:rPr>
                        <a:t>2</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지역기반 관광정보 조회서비스 (areaBasedList2)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지역 코드 기준 인기 관광지 목록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a:solidFill>
                            <a:schemeClr val="tx1"/>
                          </a:solidFill>
                        </a:rPr>
                        <a:t>3</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키워드 검색 조회서비스 (searchKeyword2)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관광지명으로 좌표를 찾아 '오늘의 쉼표' 붐빔 대체 추천의 시작점으로 활용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a:solidFill>
                            <a:schemeClr val="tx1"/>
                          </a:solidFill>
                        </a:rPr>
                        <a:t>4</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축제공연행사 조회서비스 — 성지 주변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반경 10km, 오늘 이후 열리는 축제·행사를 성지 상세페이지에 실시간 표시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a:solidFill>
                            <a:schemeClr val="tx1"/>
                          </a:solidFill>
                        </a:rPr>
                        <a:t>5</a:t>
                      </a:r>
                      <a:endParaRPr lang="ko-KR" altLang="en-US" sz="3200" b="1">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a:solidFill>
                            <a:schemeClr val="bg1"/>
                          </a:solidFill>
                        </a:rPr>
                        <a:t>API</a:t>
                      </a:r>
                      <a:r>
                        <a:rPr lang="ko-KR" altLang="en-US" b="1">
                          <a:solidFill>
                            <a:schemeClr val="bg1"/>
                          </a:solidFill>
                        </a:rPr>
                        <a:t>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축제공연행사 조회서비스 — 전국 진행중 (searchFestival2)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a:solidFill>
                            <a:schemeClr val="bg1"/>
                          </a:solidFill>
                        </a:rPr>
                        <a:t>상세설명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오늘 진행 중인 전국 축제를 조회해 성지별 붐빔 지수 계산의 핵심 입력으로 사용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1957205643"/>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a:solidFill>
                            <a:schemeClr val="bg1"/>
                          </a:solidFill>
                        </a:rPr>
                        <a:t>차별성</a:t>
                      </a:r>
                      <a:endParaRPr lang="en-US" altLang="ko-KR"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가톨릭 길동무(GPS 기반 현장 탐색·순례 기록)나 서울 순례길(서울 24개 공식 코스)처럼 '이미 정해진 성지를 어떻게 잘 찾아가고 기록하는가'에 강점을 가진 서비스와는 다른 질문에서 출발한다 — 본 서비스는 '오늘 어디가 한적한가'를 먼저 묻는다. 성지 208곳의 전국 분산·한적함과 TourAPI 실시간 데이터를 결합해, 혼잡 명소를 경유하되 그 옆의 한적한 성지를 엮은 완결 코스를 제안하고, 축제·명소 데이터를 매일 재계산하는 '오늘의 쉼표' 붐빔 지수로 정적 추천이 아닌 그날그날 달라지는 실시간 분산 추천을 제공한다. TripCatholic처럼 세계 성지를 다루는 글로벌 서비스나 Wise Pilgrim 같은 도보길 오프라인 특화 서비스와도 다르게, 한국 성지 데이터의 깊이와 한국관광공사 관광정보 연계라는 국내 특화 영역에 집중한다.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a:solidFill>
                            <a:schemeClr val="bg1"/>
                          </a:solidFill>
                        </a:rPr>
                        <a:t>발전계획</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a:txBody>
                    <a:bodyPr/>
                    <a:lstStyle/>
                    <a:p>
                      <a:r>
                        <a:rPr lang="ko-KR" altLang="en-US" sz="1400" b="0">
                          <a:solidFill>
                            <a:schemeClr val="tx1"/>
                          </a:solidFill>
                        </a:rPr>
                        <a:t>① AI가 성지+TourAPI 관광지·맛집·숙박을 조합해 하루 코스를 자동 생성하는 기능 확장 ② 마음 나침반 응답을 저장해 추천을 개인화 ③ 한국천주교주교회의 주소록(5,918건) 기반 성지 주변 피정의집·미사시간 안내 확장 ④ 비신자·외국인 관점 토글과 다국어 확장 ⑤ 데이터 모델을 리팩터링해 타 종교·해외 성지로 확장 가능하도록 설계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감정 태그(위로/새출발/평온/치유/감사) 선택</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holy_sites에서 해당 감정 성지 후보 조회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좌표 있는 성지는 TourAPI 반경 검색으로 도보권 관광지 페어링</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성지+관광지 코스 카드로 조립해 노출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#쉼표순례길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감정 기반 코스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위로/새출발/평온/치유/감사 5개 감정 중 하나를 고르면 해당 감정의 성지 후보를 조회하고, 좌표가 있는 성지는 TourAPI 반경 검색으로 도보권 관광지를 실시간 페어링해 '성지+관광지' 코스 카드로 제공한다.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마음 나침반 진입</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7개 질문에 순서대로 응답</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응답 결과로 성지 1곳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추천 성지 상세로 이동</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#마음나침반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7문항 감정 진단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7개 질문에 답하면 지금 마음 상태에 맞는 성지 1곳을 안내한다.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p:cNvGraphicFramePr>
            <a:graphicFrameLocks noGrp="1"/>
          </p:cNvGraphicFramePr>
          <p:nvPr>
            <p:extLst>
              <p:ext uri="{D42A27DB-BD31-4B8C-83A1-F6EECF244321}">
                <p14:modId xmlns:p14="http://schemas.microsoft.com/office/powerpoint/2010/main" val="1504402377"/>
              </p:ext>
            </p:extLst>
          </p:nvPr>
        </p:nvGraphicFramePr>
        <p:xfrm>
          <a:off x="302952" y="2702225"/>
          <a:ext cx="11426308" cy="3836943"/>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1846">
                <a:tc gridSpan="4">
                  <a:txBody>
                    <a:bodyPr/>
                    <a:lstStyle/>
                    <a:p>
                      <a:pPr algn="ctr" latinLnBrk="1"/>
                      <a:r>
                        <a:rPr lang="ko-KR" altLang="en-US">
                          <a:solidFill>
                            <a:schemeClr val="bg1"/>
                          </a:solidFill>
                        </a:rPr>
                        <a:t>기능</a:t>
                      </a:r>
                      <a:r>
                        <a:rPr lang="ko-KR" altLang="en-US" baseline="0">
                          <a:solidFill>
                            <a:schemeClr val="bg1"/>
                          </a:solidFill>
                        </a:rPr>
                        <a:t> </a:t>
                      </a:r>
                      <a:r>
                        <a:rPr lang="ko-KR" altLang="en-US">
                          <a:solidFill>
                            <a:schemeClr val="bg1"/>
                          </a:solidFill>
                        </a:rPr>
                        <a:t>흐름도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372472"/>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282463">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 사용자가 실제 서비스 화면 스크린샷을 찍어 교체 필요 (이 작업은 네트워크/환경변수 제약으로 실제 화면을 받을 수 없었음)</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166258">
                <a:tc>
                  <a:txBody>
                    <a:bodyPr/>
                    <a:lstStyle/>
                    <a:p>
                      <a:r>
                        <a:rPr lang="ko-KR" altLang="en-US" sz="1400" b="0">
                          <a:solidFill>
                            <a:schemeClr val="tx1"/>
                          </a:solidFill>
                        </a:rPr>
                        <a:t>1. AI 가이드 대화창에서 질문 입력</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2. holy_sites에서 관련 레코드 최대 5건 검색</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3. Gemini에 컨텍스트+질문 전달</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4. 컨텍스트 안 내용만 응답(범위 밖이면 "모른다")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91979266"/>
              </p:ext>
            </p:extLst>
          </p:nvPr>
        </p:nvGraphicFramePr>
        <p:xfrm>
          <a:off x="302952" y="1130530"/>
          <a:ext cx="11426308" cy="137160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182880">
                <a:tc>
                  <a:txBody>
                    <a:bodyPr/>
                    <a:lstStyle/>
                    <a:p>
                      <a:pPr algn="ctr" latinLnBrk="1"/>
                      <a:r>
                        <a:rPr lang="ko-KR" altLang="en-US" b="1" dirty="0" smtClean="0">
                          <a:solidFill>
                            <a:schemeClr val="bg1"/>
                          </a:solidFill>
                        </a:rPr>
                        <a:t>해시태그</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18288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err="1" smtClean="0">
                          <a:solidFill>
                            <a:schemeClr val="bg1"/>
                          </a:solidFill>
                        </a:rPr>
                        <a:t>연계기능</a:t>
                      </a:r>
                      <a:r>
                        <a:rPr lang="en-US" altLang="ko-KR" b="1" dirty="0" smtClean="0">
                          <a:solidFill>
                            <a:schemeClr val="bg1"/>
                          </a:solidFill>
                        </a:rPr>
                        <a:t>1</a:t>
                      </a:r>
                      <a:endParaRPr lang="ko-KR" altLang="en-US"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성지 DB 범위 제한 AI 챗봇</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1657432"/>
                  </a:ext>
                </a:extLst>
              </a:tr>
              <a:tr h="236913">
                <a:tc>
                  <a:txBody>
                    <a:bodyPr/>
                    <a:lstStyle/>
                    <a:p>
                      <a:pPr algn="ctr" latinLnBrk="1"/>
                      <a:r>
                        <a:rPr lang="ko-KR" altLang="en-US" b="1" dirty="0" err="1" smtClean="0">
                          <a:solidFill>
                            <a:schemeClr val="bg1"/>
                          </a:solidFill>
                        </a:rPr>
                        <a:t>기능설명</a:t>
                      </a:r>
                      <a:r>
                        <a:rPr lang="en-US" altLang="ko-KR" b="1" dirty="0" smtClean="0">
                          <a:solidFill>
                            <a:schemeClr val="bg1"/>
                          </a:solidFill>
                        </a:rPr>
                        <a:t>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r>
                        <a:rPr lang="ko-KR" altLang="en-US" sz="1400" b="0">
                          <a:solidFill>
                            <a:schemeClr val="tx1"/>
                          </a:solidFill>
                        </a:rPr>
                        <a:t>Gemini 기반 대화형 가이드가 질문과 관련된 성지 DB 레코드만 컨텍스트로 사용하며, 컨텍스트에 없는 내용은 "모른다"고 답해 종교 성지 정보의 오답을 막는다.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#쉼표순례길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감정 기반 코스 매칭</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위로/새출발/평온/치유/감사 5개 감정 중 하나를 고르면 해당 감정의 성지 후보를 조회하고, 좌표가 있는 성지는 TourAPI 반경 검색으로 도보권 관광지를 실시간 페어링해 '성지+관광지' 코스 카드로 제공한다.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#마음나침반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7문항 감정 진단 추천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7개 질문에 답하면 지금 마음 상태에 맞는 성지 1곳을 안내한다.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38217558"/>
              </p:ext>
            </p:extLst>
          </p:nvPr>
        </p:nvGraphicFramePr>
        <p:xfrm>
          <a:off x="180961" y="1551963"/>
          <a:ext cx="11830079" cy="4993748"/>
        </p:xfrm>
        <a:graphic>
          <a:graphicData uri="http://schemas.openxmlformats.org/drawingml/2006/table">
            <a:tbl>
              <a:tblPr firstRow="1" bandRow="1">
                <a:tableStyleId>{5C22544A-7EE6-4342-B048-85BDC9FD1C3A}</a:tableStyleId>
              </a:tblPr>
              <a:tblGrid>
                <a:gridCol w="2570619">
                  <a:extLst>
                    <a:ext uri="{9D8B030D-6E8A-4147-A177-3AD203B41FA5}">
                      <a16:colId xmlns:a16="http://schemas.microsoft.com/office/drawing/2014/main" val="95366056"/>
                    </a:ext>
                  </a:extLst>
                </a:gridCol>
                <a:gridCol w="2620520">
                  <a:extLst>
                    <a:ext uri="{9D8B030D-6E8A-4147-A177-3AD203B41FA5}">
                      <a16:colId xmlns:a16="http://schemas.microsoft.com/office/drawing/2014/main" val="2325135401"/>
                    </a:ext>
                  </a:extLst>
                </a:gridCol>
                <a:gridCol w="6638940">
                  <a:extLst>
                    <a:ext uri="{9D8B030D-6E8A-4147-A177-3AD203B41FA5}">
                      <a16:colId xmlns:a16="http://schemas.microsoft.com/office/drawing/2014/main" val="2514411670"/>
                    </a:ext>
                  </a:extLst>
                </a:gridCol>
              </a:tblGrid>
              <a:tr h="45025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해시태그</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smtClean="0">
                          <a:solidFill>
                            <a:schemeClr val="bg1"/>
                          </a:solidFill>
                        </a:rPr>
                        <a:t>연계 기능</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600" b="1" baseline="0" smtClean="0">
                          <a:solidFill>
                            <a:schemeClr val="bg1"/>
                          </a:solidFill>
                        </a:rPr>
                        <a:t>연계 상세 내용</a:t>
                      </a:r>
                      <a:endParaRPr lang="ko-KR" altLang="en-US" sz="1600" b="1">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99DBF"/>
                    </a:solidFill>
                  </a:tcPr>
                </a:tc>
                <a:extLst>
                  <a:ext uri="{0D108BD9-81ED-4DB2-BD59-A6C34878D82A}">
                    <a16:rowId xmlns:a16="http://schemas.microsoft.com/office/drawing/2014/main" val="3357600838"/>
                  </a:ext>
                </a:extLst>
              </a:tr>
              <a:tr h="4543492">
                <a:tc>
                  <a:txBody>
                    <a:bodyPr/>
                    <a:lstStyle/>
                    <a:p>
                      <a:r>
                        <a:rPr lang="ko-KR" altLang="en-US" sz="1400" b="0">
                          <a:solidFill>
                            <a:schemeClr val="tx1"/>
                          </a:solidFill>
                        </a:rPr>
                        <a:t>#순례가이드미카엘</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성지 DB 범위 제한 AI 챗봇</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lang="ko-KR" altLang="en-US" sz="1400" b="0">
                          <a:solidFill>
                            <a:schemeClr val="tx1"/>
                          </a:solidFill>
                        </a:rPr>
                        <a:t>Gemini 기반 대화형 가이드가 질문과 관련된 성지 DB 레코드만 컨텍스트로 사용하며, 컨텍스트에 없는 내용은 "모른다"고 답해 종교 성지 정보의 오답을 막는다.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sp>
        <p:nvSpPr>
          <p:cNvPr id="4" name="TextBox 3"/>
          <p:cNvSpPr txBox="1"/>
          <p:nvPr/>
        </p:nvSpPr>
        <p:spPr>
          <a:xfrm>
            <a:off x="174567" y="1101012"/>
            <a:ext cx="3382365" cy="307777"/>
          </a:xfrm>
          <a:prstGeom prst="rect">
            <a:avLst/>
          </a:prstGeom>
          <a:solidFill>
            <a:srgbClr val="372472"/>
          </a:solidFill>
        </p:spPr>
        <p:txBody>
          <a:bodyPr wrap="square" rtlCol="0">
            <a:spAutoFit/>
          </a:bodyPr>
          <a:lstStyle/>
          <a:p>
            <a:pPr algn="ctr"/>
            <a:r>
              <a:rPr lang="ko-KR" altLang="en-US" sz="1400" b="1" dirty="0" smtClean="0">
                <a:solidFill>
                  <a:schemeClr val="bg1"/>
                </a:solidFill>
              </a:rPr>
              <a:t>해시태그 연계 핵심기능 및 상세내용</a:t>
            </a:r>
            <a:endParaRPr lang="ko-KR" altLang="en-US" sz="1400" b="1" dirty="0">
              <a:solidFill>
                <a:schemeClr val="bg1"/>
              </a:solidFill>
            </a:endParaRPr>
          </a:p>
        </p:txBody>
      </p:sp>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Gmarket Sans Medium" panose="020F0302020204030204"/>
        <a:ea typeface=""/>
        <a:cs typeface=""/>
        <a:font script="Jpan" typeface="游ゴシック Light"/>
        <a:font script="Hang" typeface="Gmarket Sans Medium"/>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market Sans Medium" panose="020F0502020204030204"/>
        <a:ea typeface=""/>
        <a:cs typeface=""/>
        <a:font script="Jpan" typeface="游ゴシック"/>
        <a:font script="Hang" typeface="Gmarket Sans Medium"/>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1745</TotalTime>
  <Words>706</Words>
  <Application>Microsoft Office PowerPoint</Application>
  <PresentationFormat>와이드스크린</PresentationFormat>
  <Paragraphs>127</Paragraphs>
  <Slides>9</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103</cp:revision>
  <dcterms:created xsi:type="dcterms:W3CDTF">2026-07-07T05:25:59Z</dcterms:created>
  <dcterms:modified xsi:type="dcterms:W3CDTF">2026-08-11T04:23:23Z</dcterms:modified>
</cp:coreProperties>
</file>